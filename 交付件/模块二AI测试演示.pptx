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d671191f904f07" /><Relationship Type="http://schemas.openxmlformats.org/officeDocument/2006/relationships/extended-properties" Target="/docProps/app.xml" Id="R403191b73e604a20" /><Relationship Type="http://schemas.openxmlformats.org/officeDocument/2006/relationships/officeDocument" Target="/ppt/presentation.xml" Id="Re7672971193142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a218f106d94c24"/>
  </p:sldMasterIdLst>
  <p:notesMasterIdLst>
    <p:notesMasterId xmlns:r="http://schemas.openxmlformats.org/officeDocument/2006/relationships" r:id="Reb1f62ad6b2f4d48"/>
  </p:notesMasterIdLst>
  <p:sldIdLst>
    <p:sldId xmlns:r="http://schemas.openxmlformats.org/officeDocument/2006/relationships" id="256" r:id="Rca0200eeb4f84857"/>
    <p:sldId xmlns:r="http://schemas.openxmlformats.org/officeDocument/2006/relationships" id="257" r:id="R1222e092734a4294"/>
    <p:sldId xmlns:r="http://schemas.openxmlformats.org/officeDocument/2006/relationships" id="258" r:id="R0739cfd5d8d7432b"/>
    <p:sldId xmlns:r="http://schemas.openxmlformats.org/officeDocument/2006/relationships" id="259" r:id="R72ea2d94b75b4b0f"/>
    <p:sldId xmlns:r="http://schemas.openxmlformats.org/officeDocument/2006/relationships" id="260" r:id="R9f13fe00e542451d"/>
    <p:sldId xmlns:r="http://schemas.openxmlformats.org/officeDocument/2006/relationships" id="261" r:id="R5db3ee4017774854"/>
    <p:sldId xmlns:r="http://schemas.openxmlformats.org/officeDocument/2006/relationships" id="262" r:id="Rfe25f0204adc4fc4"/>
    <p:sldId xmlns:r="http://schemas.openxmlformats.org/officeDocument/2006/relationships" id="263" r:id="R5b7c574a2f5f4516"/>
    <p:sldId xmlns:r="http://schemas.openxmlformats.org/officeDocument/2006/relationships" id="264" r:id="Rd040dea5e8dc40c9"/>
    <p:sldId xmlns:r="http://schemas.openxmlformats.org/officeDocument/2006/relationships" id="265" r:id="R7bb538d5bd044650"/>
    <p:sldId xmlns:r="http://schemas.openxmlformats.org/officeDocument/2006/relationships" id="266" r:id="R459dae33de104c8b"/>
    <p:sldId xmlns:r="http://schemas.openxmlformats.org/officeDocument/2006/relationships" id="267" r:id="R2c6af270ea6648f8"/>
    <p:sldId xmlns:r="http://schemas.openxmlformats.org/officeDocument/2006/relationships" id="268" r:id="R4f7001d4a66345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5b810ed62f4c74" /><Relationship Type="http://schemas.openxmlformats.org/officeDocument/2006/relationships/slideMaster" Target="/ppt/slideMasters/slideMaster1.xml" Id="R6da218f106d94c24" /><Relationship Type="http://schemas.openxmlformats.org/officeDocument/2006/relationships/notesMaster" Target="/ppt/notesMasters/notesMaster1.xml" Id="Reb1f62ad6b2f4d48" /><Relationship Type="http://schemas.openxmlformats.org/officeDocument/2006/relationships/presProps" Target="/ppt/presProps.xml" Id="R1b4ddc2378274b52" /><Relationship Type="http://schemas.openxmlformats.org/officeDocument/2006/relationships/tableStyles" Target="/ppt/tableStyles.xml" Id="R3f683a555bb248f9" /><Relationship Type="http://schemas.openxmlformats.org/officeDocument/2006/relationships/slide" Target="/ppt/slides/slide1.xml" Id="Rca0200eeb4f84857" /><Relationship Type="http://schemas.openxmlformats.org/officeDocument/2006/relationships/slide" Target="/ppt/slides/slide2.xml" Id="R1222e092734a4294" /><Relationship Type="http://schemas.openxmlformats.org/officeDocument/2006/relationships/slide" Target="/ppt/slides/slide3.xml" Id="R0739cfd5d8d7432b" /><Relationship Type="http://schemas.openxmlformats.org/officeDocument/2006/relationships/slide" Target="/ppt/slides/slide4.xml" Id="R72ea2d94b75b4b0f" /><Relationship Type="http://schemas.openxmlformats.org/officeDocument/2006/relationships/slide" Target="/ppt/slides/slide5.xml" Id="R9f13fe00e542451d" /><Relationship Type="http://schemas.openxmlformats.org/officeDocument/2006/relationships/slide" Target="/ppt/slides/slide6.xml" Id="R5db3ee4017774854" /><Relationship Type="http://schemas.openxmlformats.org/officeDocument/2006/relationships/slide" Target="/ppt/slides/slide7.xml" Id="Rfe25f0204adc4fc4" /><Relationship Type="http://schemas.openxmlformats.org/officeDocument/2006/relationships/slide" Target="/ppt/slides/slide8.xml" Id="R5b7c574a2f5f4516" /><Relationship Type="http://schemas.openxmlformats.org/officeDocument/2006/relationships/slide" Target="/ppt/slides/slide9.xml" Id="Rd040dea5e8dc40c9" /><Relationship Type="http://schemas.openxmlformats.org/officeDocument/2006/relationships/slide" Target="/ppt/slides/slide10.xml" Id="R7bb538d5bd044650" /><Relationship Type="http://schemas.openxmlformats.org/officeDocument/2006/relationships/slide" Target="/ppt/slides/slide11.xml" Id="R459dae33de104c8b" /><Relationship Type="http://schemas.openxmlformats.org/officeDocument/2006/relationships/slide" Target="/ppt/slides/slide12.xml" Id="R2c6af270ea6648f8" /><Relationship Type="http://schemas.openxmlformats.org/officeDocument/2006/relationships/slide" Target="/ppt/slides/slide13.xml" Id="R4f7001d4a66345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d09f4d71284b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f9cb035ad94d57" /><Relationship Type="http://schemas.openxmlformats.org/officeDocument/2006/relationships/notesMaster" Target="/ppt/notesMasters/notesMaster1.xml" Id="R4c811c4e7cfd4d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4b2178acae49dd" /><Relationship Type="http://schemas.openxmlformats.org/officeDocument/2006/relationships/notesMaster" Target="/ppt/notesMasters/notesMaster1.xml" Id="Rcd99d9111ea445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0184c6804c4192" /><Relationship Type="http://schemas.openxmlformats.org/officeDocument/2006/relationships/notesMaster" Target="/ppt/notesMasters/notesMaster1.xml" Id="Rd221098a4d2a44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6e4b208af94822" /><Relationship Type="http://schemas.openxmlformats.org/officeDocument/2006/relationships/notesMaster" Target="/ppt/notesMasters/notesMaster1.xml" Id="R536492ce4ca142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75a5c81d1141fb" /><Relationship Type="http://schemas.openxmlformats.org/officeDocument/2006/relationships/notesMaster" Target="/ppt/notesMasters/notesMaster1.xml" Id="Rea441fd1084547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a91e698d8c4180" /><Relationship Type="http://schemas.openxmlformats.org/officeDocument/2006/relationships/notesMaster" Target="/ppt/notesMasters/notesMaster1.xml" Id="Rb1f823ec72a341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6d17f4b9dd4e19" /><Relationship Type="http://schemas.openxmlformats.org/officeDocument/2006/relationships/notesMaster" Target="/ppt/notesMasters/notesMaster1.xml" Id="R333daf9935984e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4ccec842a94db5" /><Relationship Type="http://schemas.openxmlformats.org/officeDocument/2006/relationships/notesMaster" Target="/ppt/notesMasters/notesMaster1.xml" Id="R3a251adc01b04b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173edf35904bfc" /><Relationship Type="http://schemas.openxmlformats.org/officeDocument/2006/relationships/notesMaster" Target="/ppt/notesMasters/notesMaster1.xml" Id="Rff29e043619745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57d2679736412c" /><Relationship Type="http://schemas.openxmlformats.org/officeDocument/2006/relationships/notesMaster" Target="/ppt/notesMasters/notesMaster1.xml" Id="Ra3819ddbb59547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4dc53aa2034143" /><Relationship Type="http://schemas.openxmlformats.org/officeDocument/2006/relationships/notesMaster" Target="/ppt/notesMasters/notesMaster1.xml" Id="R1582e8a4d6c74b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713451e01d43dc" /><Relationship Type="http://schemas.openxmlformats.org/officeDocument/2006/relationships/notesMaster" Target="/ppt/notesMasters/notesMaster1.xml" Id="Rab4921cf9db140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302ac0ebe244b7" /><Relationship Type="http://schemas.openxmlformats.org/officeDocument/2006/relationships/notesMaster" Target="/ppt/notesMasters/notesMaster1.xml" Id="Rd8fa2af2a3b042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本页介绍模块二正式实验。所有数字来自 module2-formal-0bd7e93-001；最终结论为不通过。讲解约 30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强调唯一变量原则。MMSep 路径在第 16 层进行视觉 token 选择，后续层保留约 18.4%。当前实现不是论文完整复现。讲解约 45 秒。来源：https://doi.org/10.1145/3770855.3817821；https://github.com/MeinhardMark/MMSep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展示五维测试矩阵。课程要求的不少于 15 条已满足；公开基准尚未实际执行，因此不得把自建夹具包装成论文基准。讲解约 45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说明服务器运行的环境冻结和证据链。manifest 保存输入、结果、环境和摘要哈希；外部 DeepSeek Judge 本轮未启用。讲解约 40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按输出 Oracle，功能 4/6，鲁棒性 6/8，公平和安全均 6/6。性能的 4/4 仅指开放式回答符合短语和长度，不能代表加速通过。讲解约 45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图表按 generated_tokens / seconds 归一化。MMSep 吞吐低于 Baseline；虽然 KV 与显存指标有收益，但不能宣称加速。讲解约 50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只把测试框架口径缺陷标为已修复；模型计数和性能问题仍未修复。右上角是两张真实失败输入。讲解约 55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 AI 辅助的价值与边界。两位成员按真实产出各占 50%。当前版本作为可审计原型保留，不应宣称已达到论文加速目标。讲解约 45 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说明交付件内新增的自动化测试入口和证据输出位置。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只展示 lcx 负责的 8 条用例及完整门槛结果。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缺陷页仅报告 lcx 负责范围，并区分已修复框架缺陷与未修复模型问题。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演示时只需运行一条冒烟用例并打开已封存的正式摘要，避免现场长时间加载全部矩阵。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以事实结论结束：证据链完整，性能目标未达到，公开基准仍待补充。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11a08047944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2adba45ef04542" /><Relationship Type="http://schemas.openxmlformats.org/officeDocument/2006/relationships/slideLayout" Target="/ppt/slideLayouts/slideLayout1.xml" Id="R20a37059d46a42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a37059d46a42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06df75f804bcc" /><Relationship Type="http://schemas.openxmlformats.org/officeDocument/2006/relationships/notesSlide" Target="/ppt/notesSlides/notesSlide1.xml" Id="Rcb9c6926180a4a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23ab7984c4b46" /><Relationship Type="http://schemas.openxmlformats.org/officeDocument/2006/relationships/notesSlide" Target="/ppt/notesSlides/notesSlide2.xml" Id="R1c68af4be69c46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4413c2eae404f" /><Relationship Type="http://schemas.openxmlformats.org/officeDocument/2006/relationships/notesSlide" Target="/ppt/notesSlides/notesSlide3.xml" Id="R15451dac15c243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a4ec71a7d42f0" /><Relationship Type="http://schemas.openxmlformats.org/officeDocument/2006/relationships/notesSlide" Target="/ppt/notesSlides/notesSlide4.xml" Id="R5d6383c5a7e344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fe784c29e4904" /><Relationship Type="http://schemas.openxmlformats.org/officeDocument/2006/relationships/chart" Target="/ppt/slides/charts/chart1.xml" Id="R6509374e6cf8403e" /><Relationship Type="http://schemas.openxmlformats.org/officeDocument/2006/relationships/notesSlide" Target="/ppt/notesSlides/notesSlide5.xml" Id="R80e3720ebbef47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5f3ddf7aa4cde" /><Relationship Type="http://schemas.openxmlformats.org/officeDocument/2006/relationships/chart" Target="/ppt/slides/charts/chart2.xml" Id="Rc5ff4da18d6e459e" /><Relationship Type="http://schemas.openxmlformats.org/officeDocument/2006/relationships/notesSlide" Target="/ppt/notesSlides/notesSlide6.xml" Id="R89b67513e54c43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5b692541a40b6" /><Relationship Type="http://schemas.openxmlformats.org/officeDocument/2006/relationships/image" Target="/ppt/media/image.png" Id="R4a4c39dbe5d84d6e" /><Relationship Type="http://schemas.openxmlformats.org/officeDocument/2006/relationships/image" Target="/ppt/media/image2.png" Id="R06668653d4bb4bcf" /><Relationship Type="http://schemas.openxmlformats.org/officeDocument/2006/relationships/notesSlide" Target="/ppt/notesSlides/notesSlide7.xml" Id="Rabd0bb85fe4b4b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686dc936e4940" /><Relationship Type="http://schemas.openxmlformats.org/officeDocument/2006/relationships/notesSlide" Target="/ppt/notesSlides/notesSlide8.xml" Id="Rb9511c15971948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aa59f8acd4a8d" /><Relationship Type="http://schemas.openxmlformats.org/officeDocument/2006/relationships/notesSlide" Target="/ppt/notesSlides/notesSlide9.xml" Id="Rfd1cf90357dd49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16f52893840a4" /><Relationship Type="http://schemas.openxmlformats.org/officeDocument/2006/relationships/notesSlide" Target="/ppt/notesSlides/notesSlide10.xml" Id="Rbbad338712834b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44ec46a694dca" /><Relationship Type="http://schemas.openxmlformats.org/officeDocument/2006/relationships/notesSlide" Target="/ppt/notesSlides/notesSlide11.xml" Id="Re2235761d1ef4c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6d90ce56940bb" /><Relationship Type="http://schemas.openxmlformats.org/officeDocument/2006/relationships/notesSlide" Target="/ppt/notesSlides/notesSlide12.xml" Id="Ra72c3a55fe7244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03f053184421d" /><Relationship Type="http://schemas.openxmlformats.org/officeDocument/2006/relationships/notesSlide" Target="/ppt/notesSlides/notesSlide13.xml" Id="Re40ad4dedd8e448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配置通过率</c:v>
          </c:tx>
          <c:spPr>
            <a:solidFill xmlns:a="http://schemas.openxmlformats.org/drawingml/2006/main">
              <a:srgbClr val="2FA7A5"/>
            </a:solidFill>
          </c:spPr>
          <c:cat>
            <c:strLit>
              <c:ptCount val="5"/>
              <c:pt idx="0">
                <c:v>功能</c:v>
              </c:pt>
              <c:pt idx="1">
                <c:v>鲁棒性</c:v>
              </c:pt>
              <c:pt idx="2">
                <c:v>公平性</c:v>
              </c:pt>
              <c:pt idx="3">
                <c:v>安全性</c:v>
              </c:pt>
              <c:pt idx="4">
                <c:v>性能*</c:v>
              </c:pt>
            </c:strLit>
          </c:cat>
          <c:val>
            <c:numLit>
              <c:formatCode>General</c:formatCode>
              <c:ptCount val="5"/>
              <c:pt idx="0">
                <c:v>0.667</c:v>
              </c:pt>
              <c:pt idx="1">
                <c:v>0.75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7324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9EC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1F6E8C"/>
            </a:solidFill>
          </c:spPr>
          <c:cat>
            <c:strLit>
              <c:ptCount val="2"/>
              <c:pt idx="0">
                <c:v>M2-PER-201</c:v>
              </c:pt>
              <c:pt idx="1">
                <c:v>M2-PER-202</c:v>
              </c:pt>
            </c:strLit>
          </c:cat>
          <c:val>
            <c:numLit>
              <c:formatCode>General</c:formatCode>
              <c:ptCount val="2"/>
              <c:pt idx="0">
                <c:v>28.44</c:v>
              </c:pt>
              <c:pt idx="1">
                <c:v>28.31</c:v>
              </c:pt>
            </c:numLit>
          </c:val>
        </c:ser>
        <c:ser>
          <c:idx val="1"/>
          <c:order val="1"/>
          <c:tx>
            <c:v>MMSep</c:v>
          </c:tx>
          <c:spPr>
            <a:solidFill xmlns:a="http://schemas.openxmlformats.org/drawingml/2006/main">
              <a:srgbClr val="2FA7A5"/>
            </a:solidFill>
          </c:spPr>
          <c:cat>
            <c:strLit>
              <c:ptCount val="2"/>
              <c:pt idx="0">
                <c:v>M2-PER-201</c:v>
              </c:pt>
              <c:pt idx="1">
                <c:v>M2-PER-202</c:v>
              </c:pt>
            </c:strLit>
          </c:cat>
          <c:val>
            <c:numLit>
              <c:formatCode>General</c:formatCode>
              <c:ptCount val="2"/>
              <c:pt idx="0">
                <c:v>26.39</c:v>
              </c:pt>
              <c:pt idx="1">
                <c:v>26.84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9324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7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9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generated tokens / 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9324A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6D3E0-63FF-4F72-9977-0464E744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A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B094A-85DC-4938-B4AC-B6B1DEA9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6E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6E4DF"/>
                </a:solidFill>
                <a:latin typeface="Microsoft YaHei"/>
                <a:ea typeface="Microsoft YaHei"/>
                <a:cs typeface="Microsoft YaHei"/>
              </a:rPr>
              <a:t>SOFTWARE QUALITY &amp; TESTING  /  MODULE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52EFF-97F2-41C7-B2EB-CA7F9BE3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LLaVA 多模态 AI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测试与 MMSep 原型评估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4C971-F46F-4E49-800D-3E5268CF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C9D8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9D8E2"/>
                </a:solidFill>
                <a:latin typeface="Microsoft YaHei"/>
                <a:ea typeface="Microsoft YaHei"/>
                <a:cs typeface="Microsoft YaHei"/>
              </a:rPr>
              <a:t>从 15 条确定性用例到可审计的 Baseline / MMSep 对照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75E7C-92B4-4B1F-8044-D9546A22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6680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F66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FEEC8-C212-4E6A-A545-ED7B65F0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7FDC6-51A7-430A-B48F-71C213B2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FC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0CD"/>
                </a:solidFill>
                <a:latin typeface="Microsoft YaHei"/>
                <a:ea typeface="Microsoft YaHei"/>
                <a:cs typeface="Microsoft YaHei"/>
              </a:rPr>
              <a:t>正式用例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1C408-F220-40A9-8AB5-D1D46497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C8B08-D17E-47F7-9760-1C9CC496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33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FC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0CD"/>
                </a:solidFill>
                <a:latin typeface="Microsoft YaHei"/>
                <a:ea typeface="Microsoft YaHei"/>
                <a:cs typeface="Microsoft YaHei"/>
              </a:rPr>
              <a:t>模式配置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CCC28-5592-4045-899F-2A24EE07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14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86.67%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B9956-E365-42AF-B09A-A31DDF05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33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FC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0CD"/>
                </a:solidFill>
                <a:latin typeface="Microsoft YaHei"/>
                <a:ea typeface="Microsoft YaHei"/>
                <a:cs typeface="Microsoft YaHei"/>
              </a:rPr>
              <a:t>输出 Oracle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BC1194-8BEF-4AC6-A7D5-E934279F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147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9B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9B94"/>
                </a:solidFill>
                <a:latin typeface="Microsoft YaHei"/>
                <a:ea typeface="Microsoft YaHei"/>
                <a:cs typeface="Microsoft YaHei"/>
              </a:rPr>
              <a:t>不通过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8CC93-B5C9-4F4D-B321-0D8FEF23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33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FC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FC0CD"/>
                </a:solidFill>
                <a:latin typeface="Microsoft YaHei"/>
                <a:ea typeface="Microsoft YaHei"/>
                <a:cs typeface="Microsoft YaHei"/>
              </a:rPr>
              <a:t>最终结论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0358B1-FD19-426C-91CC-E7D2B375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86E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6E4DF"/>
                </a:solidFill>
                <a:latin typeface="Microsoft YaHei"/>
                <a:ea typeface="Microsoft YaHei"/>
                <a:cs typeface="Microsoft YaHei"/>
              </a:rPr>
              <a:t>lcx / wjn  ·  2026-09-21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091C1-154C-4EE9-B968-0748E6EF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FC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FC0CD"/>
                </a:solidFill>
                <a:latin typeface="Microsoft YaHei"/>
                <a:ea typeface="Microsoft YaHei"/>
                <a:cs typeface="Microsoft YaHei"/>
              </a:rPr>
              <a:t>module2-formal-0bd7e93-001  ·  source 0bd7e93  ·  analysis 65d3ea6</a:t>
            </a:r>
          </a:p>
        </p:txBody>
      </p:sp>
    </p:spTree>
    <p:extLst>
      <p:ext uri="{BB962C8B-B14F-4D97-AF65-F5344CB8AC3E}">
        <p14:creationId xmlns:p14="http://schemas.microsoft.com/office/powerpoint/2010/main" val="1741082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5C3475-78C0-47C9-A3A7-2DE96A85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01  TEST OBJECT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00206-520E-43AB-A907-FC9A1F84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被测系统：统一适配器，只改变 MMSep 开关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8AA63-6348-4172-BF2C-A9F2D85F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9BBDC-D3C1-42A4-B992-AD553B75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11AC1-FE9C-4BA6-98B7-7EB1BEDD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CF680-3A46-42C8-9D0C-EED6EFA7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图片 + 文本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04DED-277C-4749-A0D4-58C7A82E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固定 PNG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固定 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E19CF-5EB4-423B-ABE7-775C07A1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590CD-1711-47B5-88FE-97BFCCA0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240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统一适配器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3D4A0-7C3D-4CCE-9109-EE93586C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43175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同一模型快照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同一生成参数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88A3E-1E61-45C3-943D-C524EB1D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7155A-C6B4-4E91-AD3D-56C6366A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240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LLaVA v1.5 7B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40647C-0840-4040-B97A-30962664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43175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4-bit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RTX 4090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8F5CF-74A7-493B-AE11-ED14B8BF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1809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62E9C-AAFF-473E-8BC2-5B2050C4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240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71DB4-6851-4980-98F8-25393793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43175"/>
            <a:ext cx="1543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JSONL → Summary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→ Manifest</a:t>
            </a:r>
          </a:p>
        </p:txBody>
      </p:sp>
      <p:cxnSp>
        <p:nvCxnSpPr>
          <p:cNvPr id="105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76500" y="2667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A7A5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857750" y="2667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A7A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9963A-2E02-4A3C-A90F-14227AAD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811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1F6E8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93388C-E531-4F8B-9BBA-290E23C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145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6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F6E8C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8DC9A-9C39-4F4F-B21C-AC316DFB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原始视觉 KV 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4DE39-A80D-47BB-8195-E5CA294E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3845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F6F4"/>
          </a:solidFill>
          <a:ln xmlns:a="http://schemas.openxmlformats.org/drawingml/2006/main" w="9525">
            <a:solidFill>
              <a:srgbClr val="2FA7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F1BAA8-39EA-47BE-8843-E0015359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718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>MMSEP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5B9C51-F750-4485-B947-15A1B8C9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575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保留 106 / 576 token</a:t>
            </a:r>
          </a:p>
        </p:txBody>
      </p:sp>
      <p:cxnSp>
        <p:nvCxnSpPr>
          <p:cNvPr id="113" name=""/>
          <p:cNvCxnSpPr>
            <a:stCxn xmlns:a="http://schemas.openxmlformats.org/drawingml/2006/main" id="11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239000" y="1990725"/>
            <a:ext cx="38100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6E8C"/>
            </a:solidFill>
            <a:prstDash val="solid"/>
            <a:tailEnd type="triangle" w="sm" len="sm"/>
          </a:ln>
        </p:spPr>
      </p:cxnSp>
      <p:cxnSp>
        <p:nvCxnSpPr>
          <p:cNvPr id="114" name=""/>
          <p:cNvCxnSpPr>
            <a:stCxn xmlns:a="http://schemas.openxmlformats.org/drawingml/2006/main" id="1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239000" y="2667000"/>
            <a:ext cx="381000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A7A5"/>
            </a:solidFill>
            <a:prstDash val="solid"/>
            <a:tailEnd type="triangle" w="sm" len="sm"/>
          </a:ln>
        </p:spPr>
      </p:cxnSp>
      <p:cxnSp>
        <p:nvCxnSpPr>
          <p:cNvPr id="115" name=""/>
          <p:cNvCxnSpPr>
            <a:stCxn xmlns:a="http://schemas.openxmlformats.org/drawingml/2006/main" id="1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429750" y="1990725"/>
            <a:ext cx="38100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6E8C"/>
            </a:solidFill>
            <a:prstDash val="solid"/>
            <a:tail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2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9429750" y="2667000"/>
            <a:ext cx="381000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FA7A5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6CB904-4407-44AC-B598-363A570F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0934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6C17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D4156F-8FE0-454F-B509-0951E011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577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98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98724"/>
                </a:solidFill>
                <a:latin typeface="Microsoft YaHei"/>
                <a:ea typeface="Microsoft YaHei"/>
                <a:cs typeface="Microsoft YaHei"/>
              </a:rPr>
              <a:t>实现边界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34A2AF-35D5-48BB-817C-5CCDD25A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815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当前仓库验证的是视觉分隔符 / KV 压缩原型；尚未完整实现论文中的文本分隔符维护和视觉召回。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9F94D3-4637-4316-98C6-647A9B2E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module2-formal-0bd7e93-001  ·  source 0bd7e93  ·  analysis 65d3ea6</a:t>
            </a:r>
          </a:p>
        </p:txBody>
      </p:sp>
    </p:spTree>
    <p:extLst>
      <p:ext uri="{BB962C8B-B14F-4D97-AF65-F5344CB8AC3E}">
        <p14:creationId xmlns:p14="http://schemas.microsoft.com/office/powerpoint/2010/main" val="1172601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7ED16B-8BFE-44A5-8EDE-59E9D082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02  TEST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844EE-75FE-4E75-96D7-972CBDE0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15 条用例覆盖五个 AI 质量维度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562CD-B8E8-44A6-94FB-B30A29A9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2169C-CF07-4E98-B4FA-3B29D8E3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68580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24000"/>
                <a:gridCol w="952500"/>
                <a:gridCol w="1619250"/>
                <a:gridCol w="2762250"/>
              </a:tblGrid>
              <a:tr h="571500">
                <a:tc>
                  <a:txBody>
                    <a:bodyPr/>
                    <a:lstStyle/>
                    <a:p>
                      <a:r>
                        <a:t>维度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用例数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模式配置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主要 Oracle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功能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精确标签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鲁棒性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成对输入 + 标签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公平性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敏感属性成对一致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安全性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标签 + 禁词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性能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质量 + tokens/s + KV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BE4FD-149D-4982-8FFB-62647F73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F6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6E8C"/>
                </a:solidFill>
                <a:latin typeface="Microsoft YaHei"/>
                <a:ea typeface="Microsoft YaHei"/>
                <a:cs typeface="Microsoft YaHei"/>
              </a:rPr>
              <a:t>运行协议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AF222-66FD-4952-873E-B41B2439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332D6-C3B7-487D-B5E5-36E6F132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CBE13-2241-4811-97CE-B23DD157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固定输入与配置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B8930-FF98-4CF1-B02D-00A1EB07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562225"/>
            <a:ext cx="952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2C81B-3D85-49DE-9B43-C2290398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38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DF3E8-FE8E-4538-991C-1585E8C0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384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1101A-8433-4FE8-B366-CA679EBB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19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Baseline / MMSep 配对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8BF85-10BA-4CA5-9B46-B7D529C5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09925"/>
            <a:ext cx="952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78747-E09F-40A5-9BD5-BE3065D9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7FB44-787F-4CB9-8A71-DBEEABA5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05D48-A309-433F-9F85-04F5FAD3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67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种子 42 / 2026 / 925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804FA-EA37-4AB8-ACB5-22E57256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57625"/>
            <a:ext cx="952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E1716-A185-4DFE-927B-A3DB8EE3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33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D3A19-03E7-4447-AABD-E21BE4BB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338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2A11D-F9E6-4284-B5AF-28881869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性能：2 次预热 + 5 次测量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DB518-F8B4-4F51-AFC2-FFE99B29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505325"/>
            <a:ext cx="952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DFB59A-701D-41AF-A88F-DE64D027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81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A7A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D775B-F49D-4D4B-A24B-8F2942F7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81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A42A3-F49B-4723-811C-2F64E3E9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代码 Oracle + SHA-256 封存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2CF88C-BB70-48A0-8248-850326C4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自建确定性夹具 ≠ 论文公开基准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911F01-0A96-4256-AB59-5B7975A3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本轮不声称 ScienceQA / MMMU / detail_2k / complex_reasoning_4k 复现。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1652A8-2EAB-4E2F-956B-3C226441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module2-formal-0bd7e93-001  ·  source 0bd7e93  ·  analysis 65d3ea6</a:t>
            </a:r>
          </a:p>
        </p:txBody>
      </p:sp>
    </p:spTree>
    <p:extLst>
      <p:ext uri="{BB962C8B-B14F-4D97-AF65-F5344CB8AC3E}">
        <p14:creationId xmlns:p14="http://schemas.microsoft.com/office/powerpoint/2010/main" val="25215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34EFB-2C84-42D2-BC7B-154DD77A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03 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A9EFF-61A5-407A-AA16-E5EB88B5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同一批证据贯穿执行、分析与交付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96FA5-0037-4416-8B82-8140326B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B4AEB-3FD7-49EC-8997-FCAFB8FC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666750" y="1581150"/>
          <a:ext xmlns:a="http://schemas.openxmlformats.org/drawingml/2006/main" cx="561975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3810000"/>
              </a:tblGrid>
              <a:tr h="476250">
                <a:tc>
                  <a:txBody>
                    <a:bodyPr/>
                    <a:lstStyle/>
                    <a:p>
                      <a:r>
                        <a:t>冻结项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值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GPU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NVIDIA GeForce RTX 4090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Python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3.10.12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PyTorch / CUDA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2.4.1+cu121 / 12.1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Transformers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4.36.2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模型快照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master@sha256:487578…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源代码 / 分析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0bd7e93 / 65d3ea6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外部 Judge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未启用，费用 0 元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65CE7-3836-48B6-B1ED-9016A586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81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6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F6E8C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7B490-8654-4484-B264-FBFF6842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09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203A0-07DA-488F-B8EC-36704997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71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environment.json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F11C4-9BC1-4180-8DBE-AA129EA9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765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版本、GPU 与 CUDA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BCACB-68E3-404A-837D-392B50D2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266E9-5F74-4E70-87E5-51666F88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52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results.jsonl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9BCA-9AC0-4B96-A137-EBE74A43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57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136 条预热 / 测量记录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EC083-2B65-4DF4-9090-20C02F69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719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ED7B0-17F8-4064-92EF-7FD7884C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338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summary.corrected.json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767D9-9822-426B-A432-3CA0D0DE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386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归一化吞吐与判定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81687-9DA6-4DDD-BEF3-BDC71597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52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F230D-1A3B-463E-9975-12BCA8E5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148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manifest.corrected.json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6603C-F09F-43C1-A378-89827364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19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关键文件 SHA-256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A3110-9F4F-45DB-BB75-83173D7D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24500"/>
            <a:ext cx="447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6"/>
          </a:solidFill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8575B3-C84F-4B63-848B-970B8116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19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>运行编号：module2-formal-0bd7e93-001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CEF1B-0CAD-403B-9B7E-1B667E8F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module2-formal-0bd7e93-001  ·  source 0bd7e93  ·  analysis 65d3ea6</a:t>
            </a:r>
          </a:p>
        </p:txBody>
      </p:sp>
    </p:spTree>
    <p:extLst>
      <p:ext uri="{BB962C8B-B14F-4D97-AF65-F5344CB8AC3E}">
        <p14:creationId xmlns:p14="http://schemas.microsoft.com/office/powerpoint/2010/main" val="12232591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1E94E5-8F2C-44A4-97B9-481E81AC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04  QUALITY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FBFA3-6900-4DF4-BB8A-3C7E494B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输出 Oracle：安全与公平通过，计数能力暴露缺陷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113AB-2D3C-4B80-8EA5-1F944741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60541-3776-4776-BA26-AE4E4F3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2B7E6-F538-4E1B-B0B2-6408C0FF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26 /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523D3-E577-48AB-A75F-FD8E7012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模式配置通过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D3036-AB72-41E7-83C4-A12CD18B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86.67%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A9D45-2FBA-4739-AD4A-3C9909CC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低于 ≥90% 门槛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3333750" y="1524000"/>
          <a:ext xmlns:a="http://schemas.openxmlformats.org/drawingml/2006/main" cx="80962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09374e6cf8403e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07298-ACF8-4320-B780-0B13D36B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B"/>
          </a:solidFill>
          <a:ln xmlns:a="http://schemas.openxmlformats.org/drawingml/2006/main" w="9525">
            <a:solidFill>
              <a:srgbClr val="E8B7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E619D-B2FD-4711-B539-3CC6B269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两项稳定失败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FD11C-61CA-4E11-9C3C-4F7B63E9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M2-FUN-101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M2-ROB-201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909871-12F9-4254-ABDE-4820E2D6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435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* 性能 100% 仅指回答质量；速度阈值另行判定。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701A9-F39E-460D-862B-82E989A9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module2-formal-0bd7e93-001  ·  source 0bd7e93  ·  analysis 65d3ea6</a:t>
            </a:r>
          </a:p>
        </p:txBody>
      </p:sp>
    </p:spTree>
    <p:extLst>
      <p:ext uri="{BB962C8B-B14F-4D97-AF65-F5344CB8AC3E}">
        <p14:creationId xmlns:p14="http://schemas.microsoft.com/office/powerpoint/2010/main" val="17305134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F274F-3D90-4ACA-91FB-FBFBD074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05 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82DBD-77E1-4226-977B-26328938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KV 压缩明显，但解码吞吐没有加速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13511-1621-4707-95FA-704942D8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7777D-3BD1-41A4-AEA2-E7078B5B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700087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ff4da18d6e459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2E019-44E6-42AC-BF28-06B9C5DE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907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75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>72–73%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9BF36-7D4B-4FAB-A4D4-83575B9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19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KV 减少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E046C-5568-4CE7-AA30-93613D43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209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9BEC4-2CBE-4386-9724-D597104A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861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0.928×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200A3-7006-473F-A056-5CBA3901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中等生成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4A480-186F-46CB-B7D7-D8CA4831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005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0.948×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8C724-B402-43B8-AE2D-012E3AA2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148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较长生成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95BC1-74B3-49E1-AEAA-A203C35C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334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6C1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739DA-35B9-4DDC-912E-EA29CE16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987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8724"/>
                </a:solidFill>
                <a:latin typeface="Microsoft YaHei"/>
                <a:ea typeface="Microsoft YaHei"/>
                <a:cs typeface="Microsoft YaHei"/>
              </a:rPr>
              <a:t>结论：质量保持率 1.00、显存下降，但两条用例均低于 1.2× 目标，性能判定为 NG。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86DA8-45A6-4501-A449-AE1AEA5B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module2-formal-0bd7e93-001  ·  source 0bd7e93  ·  analysis 65d3ea6</a:t>
            </a:r>
          </a:p>
        </p:txBody>
      </p:sp>
    </p:spTree>
    <p:extLst>
      <p:ext uri="{BB962C8B-B14F-4D97-AF65-F5344CB8AC3E}">
        <p14:creationId xmlns:p14="http://schemas.microsoft.com/office/powerpoint/2010/main" val="20196410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6FE3BE-CA8C-41E2-882C-BB75524E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06  DEFECTS &amp;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04135-1930-4458-A93E-E7DD2C69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4 个真实问题：3 个未修复，1 个测试框架缺陷已修复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7A8F9-7A38-4461-BBF4-6E167162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E7F01-B23C-4FFB-8BD7-5414FC3B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A7A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1543050"/>
          <a:ext xmlns:a="http://schemas.openxmlformats.org/drawingml/2006/main" cx="7239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666875"/>
                <a:gridCol w="1143000"/>
                <a:gridCol w="3000375"/>
              </a:tblGrid>
              <a:tr h="571500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对象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核心影响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DEF-AI-001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基础计数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未修复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两个红色圆形回答 ONE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DEF-AI-002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计数鲁棒性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未修复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三个三角形稳定回答 TWO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DEF-PERF-001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MMSep 原型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未修复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0.928× / 0.948×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DEF-FW-001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测试框架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已修复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改用 tokens/s 并重建摘要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c39dbe5d84d6e"/>
          <a:stretch xmlns:a="http://schemas.openxmlformats.org/drawingml/2006/main"/>
        </p:blipFill>
        <p:spPr>
          <a:xfrm xmlns:a="http://schemas.openxmlformats.org/drawingml/2006/main">
            <a:off x="8143875" y="1714500"/>
            <a:ext cx="1428750" cy="95250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68653d4bb4bcf"/>
          <a:stretch xmlns:a="http://schemas.openxmlformats.org/drawingml/2006/main"/>
        </p:blipFill>
        <p:spPr>
          <a:xfrm xmlns:a="http://schemas.openxmlformats.org/drawingml/2006/main">
            <a:off x="9810750" y="1714500"/>
            <a:ext cx="1428750" cy="95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539603-FFEE-41D7-A813-02FF9E34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00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期望 TWO / 实际 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AE2F5-25A2-4988-858B-EAC80778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00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期望 THREE / 实际 TWO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7E64F-81BA-411C-8653-7AB89133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F6E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E8C"/>
                </a:solidFill>
                <a:latin typeface="Microsoft YaHei"/>
                <a:ea typeface="Microsoft YaHei"/>
                <a:cs typeface="Microsoft YaHei"/>
              </a:rPr>
              <a:t>验收矩阵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8E241-8FD5-4127-AFC0-3E682230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总体 ≥90%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D05A4-6510-4958-B217-B58DA64E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100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FAIL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4F21EB-2FB6-4291-B747-A13179DA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91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P0 100%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E4855-F14B-44A6-B30A-A4CB4CD9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910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FAIL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4A981-9925-4C8E-8334-B0A48E3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安全 / 公平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18F59-88FE-4E44-9BA9-7DAA5BDF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720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77DB2-9423-4D1A-ACEE-E58FB064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质量 / KV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486AA-9051-45B8-B668-6CADA7CF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D635EF-FE0E-418D-A5D3-B1C112AC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速度 ≥1.2×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1EB63-FBDF-4ED0-9C96-24906E70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3340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94A48"/>
                </a:solidFill>
                <a:latin typeface="Microsoft YaHei"/>
                <a:ea typeface="Microsoft YaHei"/>
                <a:cs typeface="Microsoft YaHei"/>
              </a:rPr>
              <a:t>FAIL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11AA3-F12B-4E3B-9CF0-98FC5E7E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6"/>
          </a:solidFill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1887CF-F1A6-4AD2-9141-A3978047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E7D5B"/>
                </a:solidFill>
                <a:latin typeface="Microsoft YaHei"/>
                <a:ea typeface="Microsoft YaHei"/>
                <a:cs typeface="Microsoft YaHei"/>
              </a:rPr>
              <a:t>已修复的框架缺陷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9C19CD-792A-496E-9965-5F66E17E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9324A"/>
                </a:solidFill>
                <a:latin typeface="Microsoft YaHei"/>
                <a:ea typeface="Microsoft YaHei"/>
                <a:cs typeface="Microsoft YaHei"/>
              </a:rPr>
              <a:t>旧汇总用总时延比较不同输出长度；提交 65d3ea6 改为中位 tokens/s，并从不可变 JSONL 重建 corrected 摘要。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464541-CB73-486D-83EA-98983874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0707B"/>
                </a:solidFill>
                <a:latin typeface="Microsoft YaHei"/>
                <a:ea typeface="Microsoft YaHei"/>
                <a:cs typeface="Microsoft YaHei"/>
              </a:rPr>
              <a:t>module2-formal-0bd7e93-001  ·  source 0bd7e93  ·  analysis 65d3ea6</a:t>
            </a:r>
          </a:p>
        </p:txBody>
      </p:sp>
    </p:spTree>
    <p:extLst>
      <p:ext uri="{BB962C8B-B14F-4D97-AF65-F5344CB8AC3E}">
        <p14:creationId xmlns:p14="http://schemas.microsoft.com/office/powerpoint/2010/main" val="2107084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11D74-D0EA-45F1-ADF0-034DF9B6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6E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6E4DF"/>
                </a:solidFill>
                <a:latin typeface="Microsoft YaHei"/>
                <a:ea typeface="Microsoft YaHei"/>
                <a:cs typeface="Microsoft YaHei"/>
              </a:rPr>
              <a:t>07  REFLECTION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C7E48-DED5-4757-BA57-DD9C5DFB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加速了工程，但不能替代证据审查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AF7A6-61DE-4E4B-BA86-3D336C4A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B849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C3548-FE39-465B-A2E6-5A7695C6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572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86E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6E4D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E5DC5-A37A-4B13-9F2D-A877AD7D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6E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6E4DF"/>
                </a:solidFill>
                <a:latin typeface="Microsoft YaHei"/>
                <a:ea typeface="Microsoft YaHei"/>
                <a:cs typeface="Microsoft YaHei"/>
              </a:rPr>
              <a:t>我们学到的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FCA59-60CA-4870-A4A2-99F213DA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成对输入控制变量，比单条样本更能解释差异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保存逐次输出与哈希，不能只留平均数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性能必须按输出 token 归一化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未运行的公开基准绝不填写分数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D7F8A-F706-4542-B571-6F58D5F0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192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50 / 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A5447-0B2E-451E-B76B-577DE16A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C9D8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9D8E2"/>
                </a:solidFill>
                <a:latin typeface="Microsoft YaHei"/>
                <a:ea typeface="Microsoft YaHei"/>
                <a:cs typeface="Microsoft YaHei"/>
              </a:rPr>
              <a:t>lcx 总体集成与执行   /   wjn 运行时与用例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3DB23-4A9D-419E-AE37-685C5A2B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2238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CA3CE-38FE-4860-9021-B667FD6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238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E8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C4841-5541-4F3D-A74D-162F5416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909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6E4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86E4D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69405-9985-4579-9B55-5E29882D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修复视觉计数并扩大参数化回归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剖析 hook / token 选择开销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冻结版本后补测 ScienceQA 与 MMMU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完成论文完整机制后重新编号执行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16D27-ED39-41DC-979F-403E6EBB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9525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71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AFFFE-9512-4372-8BD3-9050F3D2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9B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9B94"/>
                </a:solidFill>
                <a:latin typeface="Microsoft YaHei"/>
                <a:ea typeface="Microsoft YaHei"/>
                <a:cs typeface="Microsoft YaHei"/>
              </a:rPr>
              <a:t>阶段结论  /  当前证据支持继续优化与复测，不能宣称达到论文加速目标。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5E887-BC31-4254-9420-8D80D29A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AFC0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FC0CD"/>
                </a:solidFill>
                <a:latin typeface="Microsoft YaHei"/>
                <a:ea typeface="Microsoft YaHei"/>
                <a:cs typeface="Microsoft YaHei"/>
              </a:rPr>
              <a:t>module2-formal-0bd7e93-001  ·  source 0bd7e93  ·  analysis 65d3ea6</a:t>
            </a:r>
          </a:p>
        </p:txBody>
      </p:sp>
    </p:spTree>
    <p:extLst>
      <p:ext uri="{BB962C8B-B14F-4D97-AF65-F5344CB8AC3E}">
        <p14:creationId xmlns:p14="http://schemas.microsoft.com/office/powerpoint/2010/main" val="10529491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489452-E10F-4144-827E-11FA8B9F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rPr>
              <a:t>08  AUTOMATION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C416D-C9B8-4A6B-86DE-7C22B6B7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自动化测试入口与运行方式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6E6D1-763E-40F4-8FE1-72B390DD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75272-BEF3-48FC-90EF-B17AA9EA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76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D63DA-AC75-4FC2-AEF8-1ADA8495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rPr>
              <a:t>一条命令运行全部 15 条用例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93135-4BE9-400E-87A3-FC87C245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953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6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 交付件/自动化测试脚本/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run_module2_tests.py \</a:t>
            </a:r>
          </a:p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--run-id module2-formal-001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99410-2BCB-45C2-840D-AEEBF5ED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FDDE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默认执行 Baseline 与 MMSep；--quick 只用于环境冒烟，不计入正式结果。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E7F83-B03D-47B6-91C9-C34184FF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573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6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24732-63A9-4616-A52E-1369E80E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811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加载统一用例源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86BCB-299D-4CE3-B0FA-EA21D19E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145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lcx 8 条 + wjn 7 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67E9A-7F30-4200-9D4E-9B5EC6B4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146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6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19B3E-DA3E-4E1F-8930-06E070DB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生成固定输入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8D7E8-B096-4DE0-95AF-B1FCF9A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717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图片、提示词和种子保持一致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73AB5-C670-4367-BCFA-7CFCB4E8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718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6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562AE-5076-467E-96EB-0E5A7130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成对运行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4EB59-010F-4B28-8A88-CE358C08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290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仅切换 mmsep.enabled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05414-670C-4B23-8346-3B186E9A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291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6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CC51F7-B3B4-4D52-897B-50A26792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529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代码 Oracle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DE715-F3BD-41D9-A000-7693F3A5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862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标签、禁词、长度和性能阈值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FFEFB-AC6C-42E6-B409-521F9DEC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863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A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22CE74-1F13-4211-8B40-D305E8E2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101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保存证据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A7A4B0-EB17-4B81-8F01-5268D006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435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JSONL、环境、摘要和 SHA-256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DD1C2-15ED-49D0-A36F-DC18E5C0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module2-formal-0bd7e93-001  ·  source 0bd7e93  ·  analysis 65d3ea6</a:t>
            </a:r>
          </a:p>
        </p:txBody>
      </p:sp>
    </p:spTree>
    <p:extLst>
      <p:ext uri="{BB962C8B-B14F-4D97-AF65-F5344CB8AC3E}">
        <p14:creationId xmlns:p14="http://schemas.microsoft.com/office/powerpoint/2010/main" val="16745796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B9DA6C-F370-4135-9318-F3F84449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rPr>
              <a:t>09  LCX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EA231-D390-4B16-992F-D4F34F0F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lcx 的 8 条用例中有 5 条达到全部门槛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99014-A00A-4CBE-94EB-1096EF5A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C0943-9480-4FA0-85E7-911C80C8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76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DF066-A08A-4F6D-8F2E-4DFC5330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5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A1D48-FF0A-47DF-9C59-EA9AE0CC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完整用例通过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5B4DB-8BA8-43B8-B3A3-2D718001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318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1835E"/>
                </a:solidFill>
                <a:latin typeface="Microsoft YaHei"/>
                <a:ea typeface="Microsoft YaHei"/>
                <a:cs typeface="Microsoft YaHei"/>
              </a:rPr>
              <a:t>8 /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D45C2-CDEF-4FB7-9DCA-0DE6FB9B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均无执行错误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1DAC7-5F3F-49C0-950E-4FE146FA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F"/>
          </a:solidFill>
          <a:ln xmlns:a="http://schemas.openxmlformats.org/drawingml/2006/main" w="9525">
            <a:solidFill>
              <a:srgbClr val="F1C5C2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F4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F4B48"/>
                </a:solidFill>
                <a:latin typeface="Microsoft YaHei"/>
                <a:ea typeface="Microsoft YaHei"/>
                <a:cs typeface="Microsoft YaHei"/>
              </a:rPr>
              <a:t>失败来自预注册 Oracle 或性能阈值，不是服务器中断。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06798-F3C6-43F7-B039-ACB7165C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906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503E3-ECC8-43FE-A809-94DFFC6C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764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rPr>
              <a:t>功能性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95741-4656-4932-9A87-01F7DF1A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764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M2-FUN-201、M2-FUN-202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9EAF63-B267-40DF-B0C3-BF13552F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383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18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835E"/>
                </a:solidFill>
                <a:latin typeface="Microsoft YaHei"/>
                <a:ea typeface="Microsoft YaHei"/>
                <a:cs typeface="Microsoft YaHei"/>
              </a:rPr>
              <a:t>2 /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A37B9-4AF9-4A38-AB1F-5CB9F6F1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085797-2F81-4E27-A4E5-144DD354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146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rPr>
              <a:t>鲁棒性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BBC9A-BC1D-4C63-9F3D-53287B0E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46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M2-ROB-201、M2-ROB-202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EAE5A-7375-442E-9893-BEB9AACB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BF4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F4B48"/>
                </a:solidFill>
                <a:latin typeface="Microsoft YaHei"/>
                <a:ea typeface="Microsoft YaHei"/>
                <a:cs typeface="Microsoft YaHei"/>
              </a:rPr>
              <a:t>1 /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EC4DB-5E7B-45FB-BCF4-09FA8AEC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670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ABA06-34CE-4FC7-85E7-36FB4EF3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528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rPr>
              <a:t>安全性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F3FA2-B035-4ADE-A372-09F5F75D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528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M2-SEC-201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F17A12-D7DB-4C27-8FD1-B46C03C9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147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18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835E"/>
                </a:solidFill>
                <a:latin typeface="Microsoft YaHei"/>
                <a:ea typeface="Microsoft YaHei"/>
                <a:cs typeface="Microsoft YaHei"/>
              </a:rPr>
              <a:t>1 /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AC0E2D-5DF3-4549-B5EE-1E19752B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052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6751D-45D1-442E-BACF-FD8CBD90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910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rPr>
              <a:t>公平性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FBC72C-4E97-4E85-98E7-EAB104C3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91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M2-FAI-201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4074F-3FDB-40C3-A413-5E55697F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529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18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835E"/>
                </a:solidFill>
                <a:latin typeface="Microsoft YaHei"/>
                <a:ea typeface="Microsoft YaHei"/>
                <a:cs typeface="Microsoft YaHei"/>
              </a:rPr>
              <a:t>1 /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B5ED0C-B724-4D39-BC4E-15B211F1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434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6C20B3-8050-48F3-A03B-72843DA4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292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4118DE-CF32-445A-A1AD-785D9580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29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M2-PER-201、M2-PER-202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9FFE7F-00FE-4D47-AD7B-35993590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9110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BF4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F4B48"/>
                </a:solidFill>
                <a:latin typeface="Microsoft YaHei"/>
                <a:ea typeface="Microsoft YaHei"/>
                <a:cs typeface="Microsoft YaHei"/>
              </a:rPr>
              <a:t>0 /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DF2DCD-903F-4022-BEFC-36E8FFE0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102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D28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28A17"/>
                </a:solidFill>
                <a:latin typeface="Microsoft YaHei"/>
                <a:ea typeface="Microsoft YaHei"/>
                <a:cs typeface="Microsoft YaHei"/>
              </a:rPr>
              <a:t>性能用例的回答质量均通过，但 0.928× 与 0.948× 未达到 1.20× 解码吞吐门槛。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F6D6C7-91FB-471C-A2A3-8E5C8C69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module2-formal-0bd7e93-001  ·  source 0bd7e93  ·  analysis 65d3ea6</a:t>
            </a:r>
          </a:p>
        </p:txBody>
      </p:sp>
    </p:spTree>
    <p:extLst>
      <p:ext uri="{BB962C8B-B14F-4D97-AF65-F5344CB8AC3E}">
        <p14:creationId xmlns:p14="http://schemas.microsoft.com/office/powerpoint/2010/main" val="9013530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95799B-B7FA-4829-A39C-D7018118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rPr>
              <a:t>10  LCX DEFECTS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476E8-961D-476E-A9C7-1FF06A8E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lcx 缺陷闭环：1 项已修复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288DB-E36B-4261-93EA-E2005833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8B2D4-49E8-4FB3-8A4C-E3D24B1D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76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8F1A4-A9C9-4803-82F3-F7BFC7AB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rPr>
              <a:t>DEF-LCX-FW-001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691DF-781E-4F76-9EB9-E60B0C7D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吞吐量统计口径错误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624CF-3C20-4E24-8004-0A2BB70E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65d3ea6 按生成 tokens/s 归一化；32 项测试通过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CE741A-4BC5-440C-9A1B-6E01F419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183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835E"/>
                </a:solidFill>
                <a:latin typeface="Microsoft YaHei"/>
                <a:ea typeface="Microsoft YaHei"/>
                <a:cs typeface="Microsoft YaHei"/>
              </a:rPr>
              <a:t>已修复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6D1B3-7500-47F7-83AF-B39EC740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10EC9-DC64-4DBE-A28F-A0254A11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rPr>
              <a:t>测试发现一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9EA8C-45F9-4BC1-ABF6-FDD128E0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低对比度计数仍失败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E950B-480B-41AC-B1E9-B16A0008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复验仍失败，完成修复后再登记为已关闭缺陷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EBC4F-2617-4CC1-9DA2-AA97D556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766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F4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F4B48"/>
                </a:solidFill>
                <a:latin typeface="Microsoft YaHei"/>
                <a:ea typeface="Microsoft YaHei"/>
                <a:cs typeface="Microsoft YaHei"/>
              </a:rPr>
              <a:t>测试发现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7EF1F-F7F5-44DC-A447-CBC6B341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CC85B-9D90-4FAC-97B8-2CAE9BEB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rPr>
              <a:t>测试发现二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60846-CCDC-45C9-9990-22D38B6A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解码吞吐未达目标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B3B3B-2138-402E-8F99-3CE5E7CD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833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KV 减少约 72%，但当前原型未达到加速目标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63905-5518-43BD-9E01-32769FF8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291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BF4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F4B48"/>
                </a:solidFill>
                <a:latin typeface="Microsoft YaHei"/>
                <a:ea typeface="Microsoft YaHei"/>
                <a:cs typeface="Microsoft YaHei"/>
              </a:rPr>
              <a:t>测试发现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B301C-7710-4088-8201-B0AFDCA1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3B613C-FE2C-4482-886D-B2997ED9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87896"/>
                </a:solidFill>
                <a:latin typeface="Microsoft YaHei"/>
                <a:ea typeface="Microsoft YaHei"/>
                <a:cs typeface="Microsoft YaHei"/>
              </a:rPr>
              <a:t>已修复缺陷见《lcx_模块二缺陷报告.docx》，其余问题保留为测试发现。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A0EF7-ACCC-4DD0-A42F-99EF23EA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module2-formal-0bd7e93-001  ·  source 0bd7e93  ·  analysis 65d3ea6</a:t>
            </a:r>
          </a:p>
        </p:txBody>
      </p:sp>
    </p:spTree>
    <p:extLst>
      <p:ext uri="{BB962C8B-B14F-4D97-AF65-F5344CB8AC3E}">
        <p14:creationId xmlns:p14="http://schemas.microsoft.com/office/powerpoint/2010/main" val="8663244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628A2-024F-4528-A5D1-EBA55718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rPr>
              <a:t>11 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1C14D-4F83-4D57-8EB7-09EA2623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演示操作与证据定位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26757-2953-4463-ABF2-06D5218C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E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A6C18-70A1-4AAE-9463-D2F0B4F7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476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A6A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5BD12-98D0-4734-87BC-8BE12CB2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6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DE384-DBFE-48DB-AB75-BC7FC9B7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5716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确认 GPU 与模型路径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487F4-2147-421E-81A0-D806D070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240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检查 CUDA_VISIBLE_DEVICES、LLAVA_MODEL_PATH 和视觉编码器路径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DF645-19AF-4BDA-90BF-97D664BA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6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BE6BB-8247-471F-833F-45EC24B4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52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运行单条冒烟用例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026B2-F17A-4CC1-B820-49E5BE91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05125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--quick --case-id M2-FUN-201，只验证环境和调用链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4CD12-5DD3-43DA-8537-5207EA65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65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796C5-EED3-4852-98C6-57271263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337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运行正式矩阵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64F36-2ECD-49F8-A29F-0EA7622D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862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移除 --quick，保存同一 run_id 下的两种模式记录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5578B-5F81-4CDA-9CD8-11583984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704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A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EA3BB-5737-458B-9F6B-41B78DD0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4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93650"/>
                </a:solidFill>
                <a:latin typeface="Microsoft YaHei"/>
                <a:ea typeface="Microsoft YaHei"/>
                <a:cs typeface="Microsoft YaHei"/>
              </a:rPr>
              <a:t>检查结果与证据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8CCA3-6231-4EBB-8DBD-F8C28DC9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67275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先看 summary.corrected.json，再回溯 raw/results.jsonl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7711F-7D31-41B9-9C1C-98433531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ECF8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28A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28A17"/>
                </a:solidFill>
                <a:latin typeface="Microsoft YaHei"/>
                <a:ea typeface="Microsoft YaHei"/>
                <a:cs typeface="Microsoft YaHei"/>
              </a:rPr>
              <a:t>正式证据已封存。本次课堂演示不覆盖原始结果，也不重新计算阈值。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B197B-C5A3-46C2-BB55-94BCB57A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784"/>
                </a:solidFill>
                <a:latin typeface="Microsoft YaHei"/>
                <a:ea typeface="Microsoft YaHei"/>
                <a:cs typeface="Microsoft YaHei"/>
              </a:rPr>
              <a:t>module2-formal-0bd7e93-001  ·  source 0bd7e93  ·  analysis 65d3ea6</a:t>
            </a:r>
          </a:p>
        </p:txBody>
      </p:sp>
    </p:spTree>
    <p:extLst>
      <p:ext uri="{BB962C8B-B14F-4D97-AF65-F5344CB8AC3E}">
        <p14:creationId xmlns:p14="http://schemas.microsoft.com/office/powerpoint/2010/main" val="15537850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936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475A4-7792-4101-89EF-477CF68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83E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3E0DB"/>
                </a:solidFill>
                <a:latin typeface="Microsoft YaHei"/>
                <a:ea typeface="Microsoft YaHei"/>
                <a:cs typeface="Microsoft YaHei"/>
              </a:rPr>
              <a:t>12 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27CCB-3FAA-4D81-BB97-250F6178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781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当前实现完成了可审计测试，</a:t>
            </a:r>
          </a:p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但尚未达到全部验收门槛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29850-8BDF-400B-84DA-EAFA9C53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08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A0D10-DFF2-4D0D-8293-74300E33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26 / 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42C96-E9C5-42CE-B400-204A63D5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rPr>
              <a:t>输出 Oracle 通过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C455B-045B-4162-8FDC-1D5E4EF6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B8459-7806-42E5-BE10-EC4A313E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rPr>
              <a:t>完整用例通过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78184-8407-407D-898F-4CB9AD77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 72%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15257-00CE-47A7-8605-026E57E7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rPr>
              <a:t>有效 KV 减少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374C2-AD23-40D9-B9A7-1BF0E2EE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8A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8A84"/>
                </a:solidFill>
                <a:latin typeface="Microsoft YaHei"/>
                <a:ea typeface="Microsoft YaHei"/>
                <a:cs typeface="Microsoft YaHei"/>
              </a:rPr>
              <a:t>&lt; 1.0×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23EC5-5436-4DEF-82B6-3374D250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CAD7"/>
                </a:solidFill>
                <a:latin typeface="Microsoft YaHei"/>
                <a:ea typeface="Microsoft YaHei"/>
                <a:cs typeface="Microsoft YaHei"/>
              </a:rPr>
              <a:t>两条解码倍率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0FC5E-4AE7-45C8-9774-0C488A77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3E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83E0DB"/>
                </a:solidFill>
                <a:latin typeface="Microsoft YaHei"/>
                <a:ea typeface="Microsoft YaHei"/>
                <a:cs typeface="Microsoft YaHei"/>
              </a:rPr>
              <a:t>后续工作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5A47E-9005-4A80-B541-8B1F7B0A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定位视觉计数错误并保持原阈值回归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D2DC4-8F78-4DE6-80CC-9ACD07B9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剖析 hook、索引和缓存整理开销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72BC1-AF3F-40B6-B059-A710A2C4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由 wjn 独立复现 lcx 缺陷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507DB-1160-40BE-AFC3-EB87737A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冻结公开基准版本后再补充论文基准实验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0F8F18-26F0-4BF0-A577-A98A447F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B2A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B2AD"/>
                </a:solidFill>
                <a:latin typeface="Microsoft YaHei"/>
                <a:ea typeface="Microsoft YaHei"/>
                <a:cs typeface="Microsoft YaHei"/>
              </a:rPr>
              <a:t>结论：本版本可作为课程测试实践的证据链，但不能宣称已经复现论文完整方案或实现推理加速。</a:t>
            </a:r>
          </a:p>
        </p:txBody>
      </p:sp>
    </p:spTree>
    <p:extLst>
      <p:ext uri="{BB962C8B-B14F-4D97-AF65-F5344CB8AC3E}">
        <p14:creationId xmlns:p14="http://schemas.microsoft.com/office/powerpoint/2010/main" val="1570594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2026-09-21T11:17:04.7450000Z</dcterms:created>
  <dcterms:modified xsi:type="dcterms:W3CDTF">2026-09-21T11:17:04.7450000Z</dcterms:modified>
</coreProperties>
</file>