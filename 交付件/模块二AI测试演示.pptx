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7ba8e891424aba" /><Relationship Type="http://schemas.openxmlformats.org/officeDocument/2006/relationships/extended-properties" Target="/docProps/app.xml" Id="R77cc0533e2d44f78" /><Relationship Type="http://schemas.openxmlformats.org/officeDocument/2006/relationships/officeDocument" Target="/ppt/presentation.xml" Id="Re991c8d1953549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e826eb79ff3467e"/>
  </p:sldMasterIdLst>
  <p:notesMasterIdLst>
    <p:notesMasterId xmlns:r="http://schemas.openxmlformats.org/officeDocument/2006/relationships" r:id="R07e87efd9c5048dc"/>
  </p:notesMasterIdLst>
  <p:sldIdLst>
    <p:sldId xmlns:r="http://schemas.openxmlformats.org/officeDocument/2006/relationships" id="256" r:id="R59109a6b94864747"/>
    <p:sldId xmlns:r="http://schemas.openxmlformats.org/officeDocument/2006/relationships" id="257" r:id="R789953731bad4802"/>
    <p:sldId xmlns:r="http://schemas.openxmlformats.org/officeDocument/2006/relationships" id="258" r:id="R3520547ebaf04bbe"/>
    <p:sldId xmlns:r="http://schemas.openxmlformats.org/officeDocument/2006/relationships" id="259" r:id="Rab26c493d2504ce7"/>
    <p:sldId xmlns:r="http://schemas.openxmlformats.org/officeDocument/2006/relationships" id="260" r:id="R8cf4c1fe833b4c54"/>
    <p:sldId xmlns:r="http://schemas.openxmlformats.org/officeDocument/2006/relationships" id="261" r:id="R5a3387a3d64a48e8"/>
    <p:sldId xmlns:r="http://schemas.openxmlformats.org/officeDocument/2006/relationships" id="262" r:id="Rf182a490050b4170"/>
    <p:sldId xmlns:r="http://schemas.openxmlformats.org/officeDocument/2006/relationships" id="263" r:id="R6d1b6c2220554b6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1c39d8df55439a" /><Relationship Type="http://schemas.openxmlformats.org/officeDocument/2006/relationships/slideMaster" Target="/ppt/slideMasters/slideMaster1.xml" Id="Rde826eb79ff3467e" /><Relationship Type="http://schemas.openxmlformats.org/officeDocument/2006/relationships/notesMaster" Target="/ppt/notesMasters/notesMaster1.xml" Id="R07e87efd9c5048dc" /><Relationship Type="http://schemas.openxmlformats.org/officeDocument/2006/relationships/presProps" Target="/ppt/presProps.xml" Id="R6200227a88174d32" /><Relationship Type="http://schemas.openxmlformats.org/officeDocument/2006/relationships/tableStyles" Target="/ppt/tableStyles.xml" Id="Ra30c1465bd3145b0" /><Relationship Type="http://schemas.openxmlformats.org/officeDocument/2006/relationships/slide" Target="/ppt/slides/slide1.xml" Id="R59109a6b94864747" /><Relationship Type="http://schemas.openxmlformats.org/officeDocument/2006/relationships/slide" Target="/ppt/slides/slide2.xml" Id="R789953731bad4802" /><Relationship Type="http://schemas.openxmlformats.org/officeDocument/2006/relationships/slide" Target="/ppt/slides/slide3.xml" Id="R3520547ebaf04bbe" /><Relationship Type="http://schemas.openxmlformats.org/officeDocument/2006/relationships/slide" Target="/ppt/slides/slide4.xml" Id="Rab26c493d2504ce7" /><Relationship Type="http://schemas.openxmlformats.org/officeDocument/2006/relationships/slide" Target="/ppt/slides/slide5.xml" Id="R8cf4c1fe833b4c54" /><Relationship Type="http://schemas.openxmlformats.org/officeDocument/2006/relationships/slide" Target="/ppt/slides/slide6.xml" Id="R5a3387a3d64a48e8" /><Relationship Type="http://schemas.openxmlformats.org/officeDocument/2006/relationships/slide" Target="/ppt/slides/slide7.xml" Id="Rf182a490050b4170" /><Relationship Type="http://schemas.openxmlformats.org/officeDocument/2006/relationships/slide" Target="/ppt/slides/slide8.xml" Id="R6d1b6c2220554b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d7a237732940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4d30657f2b4d5c" /><Relationship Type="http://schemas.openxmlformats.org/officeDocument/2006/relationships/notesMaster" Target="/ppt/notesMasters/notesMaster1.xml" Id="Rc375df52a3fc4e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9d3ebbdd8946a7" /><Relationship Type="http://schemas.openxmlformats.org/officeDocument/2006/relationships/notesMaster" Target="/ppt/notesMasters/notesMaster1.xml" Id="R435fdadc766d4e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ed6ee9d480a4d16" /><Relationship Type="http://schemas.openxmlformats.org/officeDocument/2006/relationships/notesMaster" Target="/ppt/notesMasters/notesMaster1.xml" Id="R1f4f6b31e8f448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2f7b9ba4c24798" /><Relationship Type="http://schemas.openxmlformats.org/officeDocument/2006/relationships/notesMaster" Target="/ppt/notesMasters/notesMaster1.xml" Id="Rc29673fc8f684f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81c36d8a8484f18" /><Relationship Type="http://schemas.openxmlformats.org/officeDocument/2006/relationships/notesMaster" Target="/ppt/notesMasters/notesMaster1.xml" Id="R49d0dda2854948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d69a0a37df14cad" /><Relationship Type="http://schemas.openxmlformats.org/officeDocument/2006/relationships/notesMaster" Target="/ppt/notesMasters/notesMaster1.xml" Id="Rc613fbd8cad34f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1d83f86b5d4bf4" /><Relationship Type="http://schemas.openxmlformats.org/officeDocument/2006/relationships/notesMaster" Target="/ppt/notesMasters/notesMaster1.xml" Id="Ra237876339a949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755f7651504f70" /><Relationship Type="http://schemas.openxmlformats.org/officeDocument/2006/relationships/notesMaster" Target="/ppt/notesMasters/notesMaster1.xml" Id="Rc7c45e473f4d4d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本页介绍模块二正式实验。所有数字来自 module2-formal-0bd7e93-001；最终结论为不通过。讲解约 30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强调唯一变量原则。MMSep 路径在第 16 层进行视觉 token 选择，后续层保留约 18.4%。当前实现不是论文完整复现。讲解约 45 秒。来源：https://doi.org/10.1145/3770855.3817821；https://github.com/MeinhardMark/MMSep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展示五维测试矩阵。课程要求的不少于 15 条已满足；公开基准尚未实际执行，因此不得把自建夹具包装成论文基准。讲解约 45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说明服务器运行的环境冻结和证据链。manifest 保存输入、结果、环境和摘要哈希；外部 DeepSeek Judge 本轮未启用。讲解约 40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按输出 Oracle，功能 4/6，鲁棒性 6/8，公平和安全均 6/6。性能的 4/4 仅指开放式回答符合短语和长度，不能代表加速通过。讲解约 45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图表按 generated_tokens / seconds 归一化。MMSep 吞吐低于 Baseline；虽然 KV 与显存指标有收益，但不能宣称加速。讲解约 50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只把测试框架口径缺陷标为已修复；模型计数和性能问题仍未修复。右上角是两张真实失败输入。讲解约 55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总结 AI 辅助的价值与边界。两位成员按真实产出各占 50%。当前版本作为可审计原型保留，不应宣称已达到论文加速目标。讲解约 45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a5bc9fc3cd4c4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b4679217b444fd" /><Relationship Type="http://schemas.openxmlformats.org/officeDocument/2006/relationships/slideLayout" Target="/ppt/slideLayouts/slideLayout1.xml" Id="R4ea9fee1488a40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a9fee1488a40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d440aab2a24035" /><Relationship Type="http://schemas.openxmlformats.org/officeDocument/2006/relationships/notesSlide" Target="/ppt/notesSlides/notesSlide1.xml" Id="Rce8b19b6d85344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1245f701b64354" /><Relationship Type="http://schemas.openxmlformats.org/officeDocument/2006/relationships/notesSlide" Target="/ppt/notesSlides/notesSlide2.xml" Id="Rf622f94978414c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dbeff4253b437d" /><Relationship Type="http://schemas.openxmlformats.org/officeDocument/2006/relationships/notesSlide" Target="/ppt/notesSlides/notesSlide3.xml" Id="R4730b93b1d744f1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04605d65ce4b44" /><Relationship Type="http://schemas.openxmlformats.org/officeDocument/2006/relationships/notesSlide" Target="/ppt/notesSlides/notesSlide4.xml" Id="Rbde706e637fb4a5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ff028a53884690" /><Relationship Type="http://schemas.openxmlformats.org/officeDocument/2006/relationships/chart" Target="/ppt/slides/charts/chart1.xml" Id="R636e30a3d9e54c94" /><Relationship Type="http://schemas.openxmlformats.org/officeDocument/2006/relationships/notesSlide" Target="/ppt/notesSlides/notesSlide5.xml" Id="R49958baea02242c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b36c9f289d43b1" /><Relationship Type="http://schemas.openxmlformats.org/officeDocument/2006/relationships/chart" Target="/ppt/slides/charts/chart2.xml" Id="R3e865d05ef3a4645" /><Relationship Type="http://schemas.openxmlformats.org/officeDocument/2006/relationships/notesSlide" Target="/ppt/notesSlides/notesSlide6.xml" Id="Rfbf6ac2bee0d49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5a8c5e8a3b4390" /><Relationship Type="http://schemas.openxmlformats.org/officeDocument/2006/relationships/image" Target="/ppt/media/image.png" Id="Re45681cdc9f34432" /><Relationship Type="http://schemas.openxmlformats.org/officeDocument/2006/relationships/image" Target="/ppt/media/image2.png" Id="Rb225b2c055ac48b0" /><Relationship Type="http://schemas.openxmlformats.org/officeDocument/2006/relationships/notesSlide" Target="/ppt/notesSlides/notesSlide7.xml" Id="Rcb5300ce7d9746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7f008cd3eb44ba" /><Relationship Type="http://schemas.openxmlformats.org/officeDocument/2006/relationships/notesSlide" Target="/ppt/notesSlides/notesSlide8.xml" Id="Reed57c755649476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配置通过率</c:v>
          </c:tx>
          <c:spPr>
            <a:solidFill xmlns:a="http://schemas.openxmlformats.org/drawingml/2006/main">
              <a:srgbClr val="2FA7A5"/>
            </a:solidFill>
          </c:spPr>
          <c:cat>
            <c:strLit>
              <c:ptCount val="5"/>
              <c:pt idx="0">
                <c:v>功能</c:v>
              </c:pt>
              <c:pt idx="1">
                <c:v>鲁棒性</c:v>
              </c:pt>
              <c:pt idx="2">
                <c:v>公平性</c:v>
              </c:pt>
              <c:pt idx="3">
                <c:v>安全性</c:v>
              </c:pt>
              <c:pt idx="4">
                <c:v>性能*</c:v>
              </c:pt>
            </c:strLit>
          </c:cat>
          <c:val>
            <c:numLit>
              <c:formatCode>General</c:formatCode>
              <c:ptCount val="5"/>
              <c:pt idx="0">
                <c:v>0.667</c:v>
              </c:pt>
              <c:pt idx="1">
                <c:v>0.75</c:v>
              </c:pt>
              <c:pt idx="2">
                <c:v>1</c:v>
              </c:pt>
              <c:pt idx="3">
                <c:v>1</c:v>
              </c:pt>
              <c:pt idx="4">
                <c:v>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324D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9EC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7D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Baseline</c:v>
          </c:tx>
          <c:spPr>
            <a:solidFill xmlns:a="http://schemas.openxmlformats.org/drawingml/2006/main">
              <a:srgbClr val="1F6E8C"/>
            </a:solidFill>
          </c:spPr>
          <c:cat>
            <c:strLit>
              <c:ptCount val="2"/>
              <c:pt idx="0">
                <c:v>M2-PER-201</c:v>
              </c:pt>
              <c:pt idx="1">
                <c:v>M2-PER-202</c:v>
              </c:pt>
            </c:strLit>
          </c:cat>
          <c:val>
            <c:numLit>
              <c:formatCode>General</c:formatCode>
              <c:ptCount val="2"/>
              <c:pt idx="0">
                <c:v>28.44</c:v>
              </c:pt>
              <c:pt idx="1">
                <c:v>28.31</c:v>
              </c:pt>
            </c:numLit>
          </c:val>
        </c:ser>
        <c:ser>
          <c:idx val="1"/>
          <c:order val="1"/>
          <c:tx>
            <c:v>MMSep</c:v>
          </c:tx>
          <c:spPr>
            <a:solidFill xmlns:a="http://schemas.openxmlformats.org/drawingml/2006/main">
              <a:srgbClr val="2FA7A5"/>
            </a:solidFill>
          </c:spPr>
          <c:cat>
            <c:strLit>
              <c:ptCount val="2"/>
              <c:pt idx="0">
                <c:v>M2-PER-201</c:v>
              </c:pt>
              <c:pt idx="1">
                <c:v>M2-PER-202</c:v>
              </c:pt>
            </c:strLit>
          </c:cat>
          <c:val>
            <c:numLit>
              <c:formatCode>General</c:formatCode>
              <c:ptCount val="2"/>
              <c:pt idx="0">
                <c:v>26.39</c:v>
              </c:pt>
              <c:pt idx="1">
                <c:v>26.84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9324A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7D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3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9EC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Microsoft YaHei"/>
                    <a:ea typeface="Microsoft YaHei"/>
                    <a:cs typeface="Microsoft YaHei"/>
                  </a:rPr>
                  <a:t>generated tokens / 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YaHei"/>
                  <a:ea typeface="Microsoft YaHei"/>
                  <a:cs typeface="Microsoft YaHe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  <c:majorUnit val="8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75">
              <a:solidFill>
                <a:srgbClr val="19324A"/>
              </a:solidFill>
              <a:latin typeface="Microsoft YaHei"/>
              <a:ea typeface="Microsoft YaHei"/>
              <a:cs typeface="Microsoft YaHe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24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26D3E0-63FF-4F72-9977-0464E744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A7A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AB094A-85DC-4938-B4AC-B6B1DEA9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rPr>
              <a:t>SOFTWARE QUALITY &amp; TESTING  /  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652EFF-97F2-41C7-B2EB-CA7F9BE3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933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LLaVA 多模态 AI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测试与 MMSep 原型评估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84C971-F46F-4E49-800D-3E5268CF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9D8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C9D8E2"/>
                </a:solidFill>
                <a:latin typeface="Microsoft YaHei"/>
                <a:ea typeface="Microsoft YaHei"/>
                <a:cs typeface="Microsoft YaHei"/>
              </a:rPr>
              <a:t>从 15 条确定性用例到可审计的 Baseline / MMSep 对照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75E7C-92B4-4B1F-8044-D9546A22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10668000" cy="19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F668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5FEEC8-C212-4E6A-A545-ED7B65F0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C7FDC6-51A7-430A-B48F-71C213B2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338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rPr>
              <a:t>正式用例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31C408-F220-40A9-8AB5-D1D46497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71475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4C8B08-D17E-47F7-9760-1C9CC496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3338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rPr>
              <a:t>模式配置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CCC28-5592-4045-899F-2A24EE07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71475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86.67%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2B9956-E365-42AF-B09A-A31DDF05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338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rPr>
              <a:t>输出 Oracle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BC1194-8BEF-4AC6-A7D5-E934279F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1475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9B9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9B94"/>
                </a:solidFill>
                <a:latin typeface="Microsoft YaHei"/>
                <a:ea typeface="Microsoft YaHei"/>
                <a:cs typeface="Microsoft YaHei"/>
              </a:rPr>
              <a:t>不通过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38CC93-B5C9-4F4D-B321-0D8FEF23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3338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rPr>
              <a:t>最终结论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0358B1-FD19-426C-91CC-E7D2B375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rPr>
              <a:t>lcx / wjn  ·  2026-09-21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8091C1-154C-4EE9-B968-0748E6EF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17410821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5C3475-78C0-47C9-A3A7-2DE96A85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01  TEST OBJECT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00206-520E-43AB-A907-FC9A1F84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被测系统：统一适配器，只改变 MMSep 开关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8AA63-6348-4172-BF2C-A9F2D85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09BBDC-D3C1-42A4-B992-AD553B75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57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F11AC1-FE9C-4BA6-98B7-7EB1BEDD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180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4F6"/>
          </a:solidFill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ECF680-3A46-42C8-9D0C-EED6EFA7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240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图片 + 文本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B04DED-277C-4749-A0D4-58C7A82EB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43175"/>
            <a:ext cx="1543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固定 PNG</a:t>
            </a:r>
          </a:p>
          <a:p xmlns:a="http://schemas.openxmlformats.org/drawingml/2006/main">
            <a:pPr algn="ctr"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固定 Prompt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DE19CF-5EB4-423B-ABE7-775C07A1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52625"/>
            <a:ext cx="180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0F7"/>
          </a:solidFill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590CD-1711-47B5-88FE-97BFCCA0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240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统一适配器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03D4A0-7C3D-4CCE-9109-EE93586C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543175"/>
            <a:ext cx="1543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同一模型快照</a:t>
            </a:r>
          </a:p>
          <a:p xmlns:a="http://schemas.openxmlformats.org/drawingml/2006/main">
            <a:pPr algn="ctr"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同一生成参数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C88A3E-1E61-45C3-943D-C524EB1D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52625"/>
            <a:ext cx="180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0F7"/>
          </a:solidFill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07155A-C6B4-4E91-AD3D-56C6366A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240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LLaVA v1.5 7B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40647C-0840-4040-B97A-30962664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543175"/>
            <a:ext cx="1543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4-bit</a:t>
            </a:r>
          </a:p>
          <a:p xmlns:a="http://schemas.openxmlformats.org/drawingml/2006/main">
            <a:pPr algn="ctr"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RTX 4090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88F5CF-74A7-493B-AE11-ED14B8BF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952625"/>
            <a:ext cx="180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4F6"/>
          </a:solidFill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562E9C-AAFF-473E-8BC2-5B2050C4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1240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证据链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571DB4-6851-4980-98F8-25393793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43175"/>
            <a:ext cx="1543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JSONL → Summary</a:t>
            </a:r>
          </a:p>
          <a:p xmlns:a="http://schemas.openxmlformats.org/drawingml/2006/main">
            <a:pPr algn="ctr"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→ Manifest</a:t>
            </a:r>
          </a:p>
        </p:txBody>
      </p:sp>
      <p:cxnSp>
        <p:nvCxnSpPr>
          <p:cNvPr id="49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476500" y="266700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FA7A5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857750" y="266700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FA7A5"/>
            </a:solidFill>
            <a:prstDash val="solid"/>
            <a:tailEnd type="triangle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99963A-2E02-4A3C-A90F-14227AAD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8115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DF3F8"/>
          </a:solidFill>
          <a:ln xmlns:a="http://schemas.openxmlformats.org/drawingml/2006/main" w="9525">
            <a:solidFill>
              <a:srgbClr val="1F6E8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93388C-E531-4F8B-9BBA-290E23C1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7145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6E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F6E8C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D8DC9A-9C39-4F4F-B21C-AC316DFB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0025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原始视觉 KV 路径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4DE39-A80D-47BB-8195-E5CA294E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3845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5F6F4"/>
          </a:solidFill>
          <a:ln xmlns:a="http://schemas.openxmlformats.org/drawingml/2006/main" w="9525">
            <a:solidFill>
              <a:srgbClr val="2FA7A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F1BAA8-39EA-47BE-8843-E0015359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9718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rPr>
              <a:t>MMSEP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5B9C51-F750-4485-B947-15A1B8C9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5755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保留 106 / 576 token</a:t>
            </a:r>
          </a:p>
        </p:txBody>
      </p:sp>
      <p:cxnSp>
        <p:nvCxnSpPr>
          <p:cNvPr id="57" name=""/>
          <p:cNvCxnSpPr>
            <a:stCxn xmlns:a="http://schemas.openxmlformats.org/drawingml/2006/main" id="11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V="1">
            <a:off x="7239000" y="1990725"/>
            <a:ext cx="381000" cy="6762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1F6E8C"/>
            </a:solidFill>
            <a:prstDash val="solid"/>
            <a:tailEnd type="triangle" w="sm" len="sm"/>
          </a:ln>
        </p:spPr>
      </p:cxnSp>
      <p:cxnSp>
        <p:nvCxnSpPr>
          <p:cNvPr id="58" name=""/>
          <p:cNvCxnSpPr>
            <a:stCxn xmlns:a="http://schemas.openxmlformats.org/drawingml/2006/main" id="1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7239000" y="2667000"/>
            <a:ext cx="381000" cy="5810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FA7A5"/>
            </a:solidFill>
            <a:prstDash val="solid"/>
            <a:tailEnd type="triangle" w="sm" len="sm"/>
          </a:ln>
        </p:spPr>
      </p:cxnSp>
      <p:cxnSp>
        <p:nvCxnSpPr>
          <p:cNvPr id="59" name=""/>
          <p:cNvCxnSpPr>
            <a:stCxn xmlns:a="http://schemas.openxmlformats.org/drawingml/2006/main" id="19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429750" y="1990725"/>
            <a:ext cx="381000" cy="6762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1F6E8C"/>
            </a:solidFill>
            <a:prstDash val="solid"/>
            <a:tailEnd type="triangle" w="sm" len="sm"/>
          </a:ln>
        </p:spPr>
      </p:cxnSp>
      <p:cxnSp>
        <p:nvCxnSpPr>
          <p:cNvPr id="60" name=""/>
          <p:cNvCxnSpPr>
            <a:stCxn xmlns:a="http://schemas.openxmlformats.org/drawingml/2006/main" id="2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 flipV="1">
            <a:off x="9429750" y="2667000"/>
            <a:ext cx="381000" cy="5810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FA7A5"/>
            </a:solidFill>
            <a:prstDash val="solid"/>
            <a:tailEnd type="triangle" w="sm" len="sm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6CB904-4407-44AC-B598-363A570F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4850"/>
            <a:ext cx="109347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9525">
            <a:solidFill>
              <a:srgbClr val="E6C17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D4156F-8FE0-454F-B509-0951E011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577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98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98724"/>
                </a:solidFill>
                <a:latin typeface="Microsoft YaHei"/>
                <a:ea typeface="Microsoft YaHei"/>
                <a:cs typeface="Microsoft YaHei"/>
              </a:rPr>
              <a:t>实现边界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34A2AF-35D5-48BB-817C-5CCDD25A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81575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当前仓库验证的是视觉分隔符 / KV 压缩原型；尚未完整实现论文中的文本分隔符维护和视觉召回。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9F94D3-4637-4316-98C6-647A9B2E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11726018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7ED16B-8BFE-44A5-8EDE-59E9D082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02  TEST STRATEGY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6844EE-75FE-4E75-96D7-972CBDE0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15 条用例覆盖五个 AI 质量维度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B562CD-B8E8-44A6-94FB-B30A29A9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2169C-CF07-4E98-B4FA-3B29D8E3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57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graphicFrame>
        <p:nvGraphicFramePr>
          <p:cNvPr id="33" name=""/>
          <p:cNvGraphicFramePr/>
          <p:nvPr/>
        </p:nvGraphicFramePr>
        <p:xfrm>
          <a:off xmlns:a="http://schemas.openxmlformats.org/drawingml/2006/main" x="666750" y="1619250"/>
          <a:ext xmlns:a="http://schemas.openxmlformats.org/drawingml/2006/main" cx="6858000" cy="3429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524000"/>
                <a:gridCol w="952500"/>
                <a:gridCol w="1619250"/>
                <a:gridCol w="2762250"/>
              </a:tblGrid>
              <a:tr h="571500">
                <a:tc>
                  <a:txBody>
                    <a:bodyPr/>
                    <a:lstStyle/>
                    <a:p>
                      <a:r>
                        <a:t>维度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用例数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模式配置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主要 Oracle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功能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精确标签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鲁棒性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成对输入 + 标签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公平性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敏感属性成对一致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安全性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标签 + 禁词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性能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质量 + tokens/s + KV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9BE4FD-149D-4982-8FFB-62647F73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1925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F6E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F6E8C"/>
                </a:solidFill>
                <a:latin typeface="Microsoft YaHei"/>
                <a:ea typeface="Microsoft YaHei"/>
                <a:cs typeface="Microsoft YaHei"/>
              </a:rPr>
              <a:t>运行协议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8AF222-66FD-4952-873E-B41B2439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907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C332D6-C3B7-487D-B5E5-36E6F132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907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FCBE13-2241-4811-97CE-B23DD157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717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固定输入与配置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7B8930-FF98-4CF1-B02D-00A1EB07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562225"/>
            <a:ext cx="9525" cy="276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42C81B-3D85-49DE-9B43-C22903980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384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8DF3E8-FE8E-4538-991C-1585E8C0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38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21101A-8433-4FE8-B366-CA679EBB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19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Baseline / MMSep 配对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28BF85-10BA-4CA5-9B46-B7D529C5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3209925"/>
            <a:ext cx="9525" cy="276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D78747-E09F-40A5-9BD5-BE3065D9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861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27FB44-787F-4CB9-8A71-DBEEABA5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86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A05D48-A309-433F-9F85-04F5FAD3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671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种子 42 / 2026 / 925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A804FA-EA37-4AB8-ACB5-22E57256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3857625"/>
            <a:ext cx="9525" cy="276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1E1716-A185-4DFE-927B-A3DB8EE3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338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ED3A19-03E7-4447-AABD-E21BE4BBF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338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F2A11D-F9E6-4284-B5AF-28881869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148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性能：2 次预热 + 5 次测量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DDB518-F8B4-4F51-AFC2-FFE99B29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505325"/>
            <a:ext cx="9525" cy="276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DFB59A-701D-41AF-A88F-DE64D027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815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A7A5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6D775B-F49D-4D4B-A24B-8F2942F7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815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CA42A3-F49B-4723-811C-2F64E3E9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7625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代码 Oracle + SHA-256 封存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2CF88C-BB70-48A0-8248-850326C4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自建确定性夹具 ≠ 论文公开基准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911F01-0A96-4256-AB59-5B7975A3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6740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本轮不声称 ScienceQA / MMMU / detail_2k / complex_reasoning_4k 复现。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1652A8-2EAB-4E2F-956B-3C226441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252158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234EFB-2C84-42D2-BC7B-154DD77A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03  REPRODUCIBILITY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9A9EFF-61A5-407A-AA16-E5EB88B5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同一批证据贯穿执行、分析与交付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96FA5-0037-4416-8B82-8140326B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EB4AEB-3FD7-49EC-8997-FCAFB8FC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57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5619750" cy="381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809750"/>
                <a:gridCol w="3810000"/>
              </a:tblGrid>
              <a:tr h="476250">
                <a:tc>
                  <a:txBody>
                    <a:bodyPr/>
                    <a:lstStyle/>
                    <a:p>
                      <a:r>
                        <a:t>冻结项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值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GPU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NVIDIA GeForce RTX 4090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3.10.12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PyTorch / CUDA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2.4.1+cu121 / 12.1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Transformers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4.36.2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模型快照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master@sha256:487578…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源代码 / 分析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0bd7e93 / 65d3ea6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外部 Judge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未启用，费用 0 元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D65CE7-3836-48B6-B1ED-9016A586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5811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F6E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F6E8C"/>
                </a:solidFill>
                <a:latin typeface="Microsoft YaHei"/>
                <a:ea typeface="Microsoft YaHei"/>
                <a:cs typeface="Microsoft YaHei"/>
              </a:rPr>
              <a:t>证据链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47B490-8654-4484-B264-FBFF6842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2098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8203A0-07DA-488F-B8EC-36704997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717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environment.json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FF11C4-9BC1-4180-8DBE-AA129EA9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765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版本、GPU 与 CUDA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BBCACB-68E3-404A-837D-392B50D2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9908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9266E9-5F74-4E70-87E5-51666F88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952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results.jsonl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679BCA-9AC0-4B96-A137-EBE74A43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575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136 条预热 / 测量记录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7EC083-2B65-4DF4-9090-20C02F69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7719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0ED7B0-17F8-4064-92EF-7FD7884C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733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summary.corrected.json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3767D9-9822-426B-A432-3CA0D0DE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0386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归一化吞吐与判定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281687-9DA6-4DDD-BEF3-BDC71597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5529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④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FF230D-1A3B-463E-9975-12BCA8E5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5148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manifest.corrected.json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56603C-F09F-43C1-A378-89827364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819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关键文件 SHA-256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6A3110-9F4F-45DB-BB75-83173D7D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524500"/>
            <a:ext cx="4476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6"/>
          </a:solidFill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8575B3-C84F-4B63-848B-970B8116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6197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rPr>
              <a:t>运行编号：module2-formal-0bd7e93-001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3CEF1B-0CAD-403B-9B7E-1B667E8F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12232591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1E94E5-8F2C-44A4-97B9-481E81AC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04  QUALITY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0FBFA3-6900-4DF4-BB8A-3C7E494B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输出 Oracle：安全与公平通过，计数能力暴露缺陷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6113AB-2D3C-4B80-8EA5-1F944741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60541-3776-4776-BA26-AE4E4F30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57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F2B7E6-F538-4E1B-B0B2-6408C0FF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0200"/>
            <a:ext cx="2476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26 / 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523D3-E577-48AB-A75F-FD8E7012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模式配置通过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5D3036-AB72-41E7-83C4-A12CD18B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86.67%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FA9D45-2FBA-4739-AD4A-3C9909CC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低于 ≥90% 门槛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3333750" y="1524000"/>
          <a:ext xmlns:a="http://schemas.openxmlformats.org/drawingml/2006/main" cx="80962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36e30a3d9e54c9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607298-ACF8-4320-B780-0B13D36B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24350"/>
            <a:ext cx="2381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B"/>
          </a:solidFill>
          <a:ln xmlns:a="http://schemas.openxmlformats.org/drawingml/2006/main" w="9525">
            <a:solidFill>
              <a:srgbClr val="E8B7B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CE619D-B2FD-4711-B539-3CC6B269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577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两项稳定失败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5FD11C-61CA-4E11-9C3C-4F7B63E9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M2-FUN-101</a:t>
            </a:r>
          </a:p>
          <a:p xmlns:a="http://schemas.openxmlformats.org/drawingml/2006/main">
            <a:pPr algn="l">
              <a:defRPr sz="1200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M2-ROB-201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909871-12F9-4254-ABDE-4820E2D6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5435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* 性能 100% 仅指回答质量；速度阈值另行判定。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1701A9-F39E-460D-862B-82E989A90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17305134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EF274F-3D90-4ACA-91FB-FBFBD074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05  PERFORMANCE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E82DBD-77E1-4226-977B-263289383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KV 压缩明显，但解码吞吐没有加速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13511-1621-4707-95FA-704942D8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97777D-3BD1-41A4-AEA2-E7078B5B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57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666750" y="1619250"/>
          <a:ext xmlns:a="http://schemas.openxmlformats.org/drawingml/2006/main" cx="7000875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865d05ef3a4645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22E019-44E6-42AC-BF28-06B9C5DE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79070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75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rPr>
              <a:t>72–73%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F9BF36-7D4B-4FAB-A4D4-83575B91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419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KV 减少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1E046C-5568-4CE7-AA30-93613D43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876550"/>
            <a:ext cx="2095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9BEC4-2CBE-4386-9724-D597104A9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0861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0.928×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D200A3-7006-473F-A056-5CBA3901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6004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中等生成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24A480-186F-46CB-B7D7-D8CA4831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0005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0.948×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38C724-B402-43B8-AE2D-012E3AA2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5148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较长生成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195BC1-74B3-49E1-AEAA-A203C35C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10334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9525">
            <a:solidFill>
              <a:srgbClr val="E6C17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7739DA-35B9-4DDC-912E-EA29CE16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245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98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98724"/>
                </a:solidFill>
                <a:latin typeface="Microsoft YaHei"/>
                <a:ea typeface="Microsoft YaHei"/>
                <a:cs typeface="Microsoft YaHei"/>
              </a:rPr>
              <a:t>结论：质量保持率 1.00、显存下降，但两条用例均低于 1.2× 目标，性能判定为 NG。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86DA8-45A6-4501-A449-AE1AEA5B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20196410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6FE3BE-CA8C-41E2-882C-BB75524E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06  DEFECTS &amp; GATES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304135-1930-4458-A93E-E7DD2C69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4 个真实问题：3 个未修复，1 个测试框架缺陷已修复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17A8F9-7A38-4461-BBF4-6E167162B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9E7F01-B23C-4FFB-8BD7-5414FC3B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57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571500" y="1543050"/>
          <a:ext xmlns:a="http://schemas.openxmlformats.org/drawingml/2006/main" cx="7239000" cy="2857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428750"/>
                <a:gridCol w="1666875"/>
                <a:gridCol w="1143000"/>
                <a:gridCol w="3000375"/>
              </a:tblGrid>
              <a:tr h="571500">
                <a:tc>
                  <a:txBody>
                    <a:bodyPr/>
                    <a:lstStyle/>
                    <a:p>
                      <a:r>
                        <a:t>编号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对象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状态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核心影响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DEF-AI-001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基础计数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未修复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两个红色圆形回答 ONE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DEF-AI-002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计数鲁棒性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未修复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三个三角形稳定回答 TWO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DEF-PERF-001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MMSep 原型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未修复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0.928× / 0.948×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DEF-FW-001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测试框架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已修复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改用 tokens/s 并重建摘要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681cdc9f34432"/>
          <a:stretch xmlns:a="http://schemas.openxmlformats.org/drawingml/2006/main"/>
        </p:blipFill>
        <p:spPr>
          <a:xfrm xmlns:a="http://schemas.openxmlformats.org/drawingml/2006/main">
            <a:off x="8143875" y="1714500"/>
            <a:ext cx="1428750" cy="952500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5b2c055ac48b0"/>
          <a:stretch xmlns:a="http://schemas.openxmlformats.org/drawingml/2006/main"/>
        </p:blipFill>
        <p:spPr>
          <a:xfrm xmlns:a="http://schemas.openxmlformats.org/drawingml/2006/main">
            <a:off x="9810750" y="1714500"/>
            <a:ext cx="1428750" cy="952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539603-FFEE-41D7-A813-02FF9E34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00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期望 TWO / 实际 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BAE2F5-25A2-4988-858B-EAC80778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800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期望 THREE / 实际 TWO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27E64F-81BA-411C-8653-7AB89133F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8137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6E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E8C"/>
                </a:solidFill>
                <a:latin typeface="Microsoft YaHei"/>
                <a:ea typeface="Microsoft YaHei"/>
                <a:cs typeface="Microsoft YaHei"/>
              </a:rPr>
              <a:t>验收矩阵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F8E241-8FD5-4127-AFC0-3E682230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10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总体 ≥90%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8D05A4-6510-4958-B217-B58DA64E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81000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FAIL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4F21EB-2FB6-4291-B747-A13179DA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91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P0 100%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5E4855-F14B-44A6-B30A-A4CB4CD9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19100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FAIL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44A981-9925-4C8E-8334-B0A48E3B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72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安全 / 公平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918F59-88FE-4E44-9BA9-7DAA5BDF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57200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E77DB2-9423-4D1A-ACEE-E58FB064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53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质量 / KV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C486AA-9051-45B8-B668-6CADA7CF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5300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D635EF-FE0E-418D-A5D3-B1C112AC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速度 ≥1.2×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91EB63-FBDF-4ED0-9C96-24906E70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533400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FAIL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B11AA3-F12B-4E3B-9CF0-98FC5E7E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0"/>
            <a:ext cx="7239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6"/>
          </a:solidFill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1887CF-F1A6-4AD2-9141-A3978047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rPr>
              <a:t>已修复的框架缺陷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9C19CD-792A-496E-9965-5F66E17E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676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旧汇总用总时延比较不同输出长度；提交 65d3ea6 改为中位 tokens/s，并从不可变 JSONL 重建 corrected 摘要。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464541-CB73-486D-83EA-98983874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21070844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7324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B11D74-D0EA-45F1-ADF0-034DF9B6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rPr>
              <a:t>07  REFLECTION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2C7E48-DED5-4757-BA57-DD9C5DFB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加速了工程，但不能替代证据审查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5AF7A6-61DE-4E4B-BA86-3D336C4A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B84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FC3548-FE39-465B-A2E6-5A7695C6F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57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5E5DC5-A37A-4B13-9F2D-A877AD7D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811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rPr>
              <a:t>我们学到的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8FCA59-60CA-4870-A4A2-99F213DA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4953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成对输入控制变量，比单条样本更能解释差异</a:t>
            </a:r>
          </a:p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保存逐次输出与哈希，不能只留平均数</a:t>
            </a:r>
          </a:p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性能必须按输出 token 归一化</a:t>
            </a:r>
          </a:p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未运行的公开基准绝不填写分数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4D7F8A-F706-4542-B571-6F58D5F0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447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50 / 50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2A5447-0B2E-451E-B76B-577DE16A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241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C9D8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8E2"/>
                </a:solidFill>
                <a:latin typeface="Microsoft YaHei"/>
                <a:ea typeface="Microsoft YaHei"/>
                <a:cs typeface="Microsoft YaHei"/>
              </a:rPr>
              <a:t>lcx 总体集成与执行   /   wjn 运行时与用例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C3DB23-4A9D-419E-AE37-685C5A2B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857500"/>
            <a:ext cx="22383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A7A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DCA3CE-38FE-4860-9021-B667FD64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57500"/>
            <a:ext cx="22383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5C4841-5541-4F3D-A74D-162F5416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909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69405-9985-4579-9B55-5E29882D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57625"/>
            <a:ext cx="4762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修复视觉计数并扩大参数化回归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剖析 hook / token 选择开销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冻结版本后补测 ScienceQA 与 MMMU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完成论文完整机制后重新编号执行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116D27-ED39-41DC-979F-403E6EBB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581150"/>
            <a:ext cx="9525" cy="447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8718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6AFFFE-9512-4372-8BD3-9050F3D2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9B9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9B94"/>
                </a:solidFill>
                <a:latin typeface="Microsoft YaHei"/>
                <a:ea typeface="Microsoft YaHei"/>
                <a:cs typeface="Microsoft YaHei"/>
              </a:rPr>
              <a:t>FINAL  /  当前版本不满足验收，不应宣称达到论文加速目标。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E5E887-BC31-4254-9420-8D80D29A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10529491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2026-09-21T03:54:59.6590000Z</dcterms:created>
  <dcterms:modified xsi:type="dcterms:W3CDTF">2026-09-21T03:54:59.6590000Z</dcterms:modified>
</coreProperties>
</file>